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A78D6"/>
                </a:solidFill>
                <a:latin typeface="Calibri"/>
              </a:rPr>
              <a:t>🔊  ECHO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Measuring Whether Civil Society's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Reaches Multilateral Governance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C3C2B7"/>
                </a:solidFill>
                <a:latin typeface="Calibri"/>
              </a:rPr>
              <a:t>A reproducible protocol — piloted on the UN Global Dialogue on AI Governance, Geneva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Civil society submits input. Does it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solidFill>
                  <a:srgbClr val="0B0B0B"/>
                </a:solidFill>
                <a:latin typeface="Calibri"/>
              </a:rPr>
              <a:t>—  Multilateral processes increasingly invite written input from civil society — as a matter of procedural legitimacy.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solidFill>
                  <a:srgbClr val="0B0B0B"/>
                </a:solidFill>
                <a:latin typeface="Calibri"/>
              </a:rPr>
              <a:t>—  But an invitation to submit input is not a mechanism for verifying the input mattered.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solidFill>
                  <a:srgbClr val="0B0B0B"/>
                </a:solidFill>
                <a:latin typeface="Calibri"/>
              </a:rPr>
              <a:t>—  Existing accountability tools (Human Rights Impact Assessments, Algorithmic Impact Assessments) evaluate downstream effects of a technology once deployed.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solidFill>
                  <a:srgbClr val="0B0B0B"/>
                </a:solidFill>
                <a:latin typeface="Calibri"/>
              </a:rPr>
              <a:t>—  None of them ask the upstream question: did the process that claims to have listened actually change because of what it heard?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828800"/>
            <a:ext cx="2834640" cy="2743200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03B3B"/>
                </a:solidFill>
                <a:latin typeface="Calibri"/>
              </a:rPr>
              <a:t>WITHOUT AN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5146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0B0B0B"/>
                </a:solidFill>
                <a:latin typeface="Calibri"/>
              </a:rPr>
              <a:t>“Multi-stakeholder participation” risks becoming a procedural checkbox — input collected, filed, and cited as proof of inclusiveness, whether or not it shaped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INTRODUCING ECHO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Three phases, one acoustic metaphor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29184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0B0B0B"/>
                </a:solidFill>
                <a:latin typeface="Calibri"/>
              </a:rPr>
              <a:t>✉️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A78D6"/>
                </a:solidFill>
                <a:latin typeface="Calibri"/>
              </a:rPr>
              <a:t>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Who engaged, when,</a:t>
            </a:r>
          </a:p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through what channel —</a:t>
            </a:r>
          </a:p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before the moment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29184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148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0B0B0B"/>
                </a:solidFill>
                <a:latin typeface="Calibri"/>
              </a:rPr>
              <a:t>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A78D6"/>
                </a:solidFill>
                <a:latin typeface="Calibri"/>
              </a:rPr>
              <a:t>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4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What did people actually</a:t>
            </a:r>
          </a:p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say — independent of</a:t>
            </a:r>
          </a:p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what happens to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29184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148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0B0B0B"/>
                </a:solidFill>
                <a:latin typeface="Calibri"/>
              </a:rPr>
              <a:t>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A78D6"/>
                </a:solidFill>
                <a:latin typeface="Calibri"/>
              </a:rPr>
              <a:t>ECHO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2044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Did Voice reach the room</a:t>
            </a:r>
          </a:p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and show up in what</a:t>
            </a:r>
          </a:p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got decided?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2461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2461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98781"/>
                </a:solidFill>
                <a:latin typeface="Calibri"/>
              </a:rPr>
              <a:t>Voice builds on Nelson (2020) Computational Grounded Theory. Signal and Echo are original extensions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98781"/>
                </a:solidFill>
                <a:latin typeface="Calibri"/>
              </a:rPr>
              <a:t>answering the accountability question that framework doesn't address on its 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METHOD —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How Voice turns hundreds of documents into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50">
                <a:solidFill>
                  <a:srgbClr val="0B0B0B"/>
                </a:solidFill>
                <a:latin typeface="Calibri"/>
              </a:rPr>
              <a:t>—  Read everything. Combine each participant's full response into one document.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50">
                <a:solidFill>
                  <a:srgbClr val="0B0B0B"/>
                </a:solidFill>
                <a:latin typeface="Calibri"/>
              </a:rPr>
              <a:t>—  Filter language &amp; catch duplicates. Set aside other languages; flag coordinated or duplicate submissions before they inflate a theme's apparent importance.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50">
                <a:solidFill>
                  <a:srgbClr val="0B0B0B"/>
                </a:solidFill>
                <a:latin typeface="Calibri"/>
              </a:rPr>
              <a:t>—  Find the recurring themes. A statistical technique (topic modeling) groups the text into a handful of consistent, recurring themes — the number of themes is chosen carefully, not guessed.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50">
                <a:solidFill>
                  <a:srgbClr val="0B0B0B"/>
                </a:solidFill>
                <a:latin typeface="Calibri"/>
              </a:rPr>
              <a:t>—  Read the real examples. For each theme, pull the actual submissions that represent it best, and read them — turning a list of words into an argument someone is making.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50">
                <a:solidFill>
                  <a:srgbClr val="0B0B0B"/>
                </a:solidFill>
                <a:latin typeface="Calibri"/>
              </a:rPr>
              <a:t>—  Test it. Check whether the pattern holds across the whole set of documents, not just the ones read closely.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METHOD —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How Echo checks whether it mattered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0B0B0B"/>
                </a:solidFill>
                <a:latin typeface="Calibri"/>
              </a:rPr>
              <a:t>—  Take the themes found in Voice.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0B0B0B"/>
                </a:solidFill>
                <a:latin typeface="Calibri"/>
              </a:rPr>
              <a:t>—  Compare them against the real, official agenda of the event.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0B0B0B"/>
                </a:solidFill>
                <a:latin typeface="Calibri"/>
              </a:rPr>
              <a:t>—  Check the closing statements and any outcome document for whether each theme was actually acted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5074920" cy="1234440"/>
          </a:xfrm>
          <a:prstGeom prst="roundRect">
            <a:avLst/>
          </a:prstGeom>
          <a:solidFill>
            <a:srgbClr val="E6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9385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B0B0B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5681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CA30C"/>
                </a:solidFill>
                <a:latin typeface="Calibri"/>
              </a:rPr>
              <a:t>FULL ECHO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3317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0B0B"/>
                </a:solidFill>
                <a:latin typeface="Calibri"/>
              </a:rPr>
              <a:t>Got a dedicated, real place on the agenda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46120"/>
            <a:ext cx="5074920" cy="1234440"/>
          </a:xfrm>
          <a:prstGeom prst="roundRect">
            <a:avLst/>
          </a:prstGeom>
          <a:solidFill>
            <a:srgbClr val="FD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3558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B0B0B"/>
                </a:solidFill>
                <a:latin typeface="Calibri"/>
              </a:rPr>
              <a:t>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3741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5790A"/>
                </a:solidFill>
                <a:latin typeface="Calibri"/>
              </a:rPr>
              <a:t>PARTIAL ECHO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749039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0B0B"/>
                </a:solidFill>
                <a:latin typeface="Calibri"/>
              </a:rPr>
              <a:t>Mentioned, but folded into a bigger, vaguer bucket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663440"/>
            <a:ext cx="5074920" cy="1234440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7731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B0B0B"/>
                </a:solidFill>
                <a:latin typeface="Calibri"/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791455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03B3B"/>
                </a:solidFill>
                <a:latin typeface="Calibri"/>
              </a:rPr>
              <a:t>SILENCE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166359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0B0B"/>
                </a:solidFill>
                <a:latin typeface="Calibri"/>
              </a:rPr>
              <a:t>Never showed up on the agenda at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The pilot: Geneva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A78D6"/>
                </a:solidFill>
                <a:latin typeface="Calibri"/>
              </a:rPr>
              <a:t>The UN's first Global Dialogue on 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2514E"/>
                </a:solidFill>
                <a:latin typeface="Calibri"/>
              </a:rPr>
              <a:t>6–7 July 2026 · Geneva · 193 UN Member States · 4,200+ registered participants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26060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2A78D6"/>
                </a:solidFill>
                <a:latin typeface="Calibri"/>
              </a:rPr>
              <a:t>379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CSO written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submissions analyzed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291840"/>
            <a:ext cx="26060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5204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2A78D6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4348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Session concept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notes analyzed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91840"/>
            <a:ext cx="26060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5204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2A78D6"/>
                </a:solidFill>
                <a:latin typeface="Calibri"/>
              </a:rPr>
              <a:t>20 + 8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348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Recurring themes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identified (Voice)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3291840"/>
            <a:ext cx="26060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35204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2A78D6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4348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Themes checked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against the real agenda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FINDINGS — VOICE (CSO SUBMISSIONS)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What civil society said, most often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B0B"/>
                </a:solidFill>
                <a:latin typeface="Calibri"/>
              </a:rPr>
              <a:t>Multi-stakeholder inclusion &amp; capacity-building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901952"/>
            <a:ext cx="5029200" cy="2926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2514E"/>
                </a:solidFill>
                <a:latin typeface="Calibri"/>
              </a:rPr>
              <a:t>12.2%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B0B"/>
                </a:solidFill>
                <a:latin typeface="Calibri"/>
              </a:rPr>
              <a:t>Corporate power &amp; data / IP rights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679192"/>
            <a:ext cx="4493301" cy="2926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99741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2514E"/>
                </a:solidFill>
                <a:latin typeface="Calibri"/>
              </a:rPr>
              <a:t>10.9%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B0B"/>
                </a:solidFill>
                <a:latin typeface="Calibri"/>
              </a:rPr>
              <a:t>Operational governance &amp; measurement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3456432"/>
            <a:ext cx="3586396" cy="2926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2836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2514E"/>
                </a:solidFill>
                <a:latin typeface="Calibri"/>
              </a:rPr>
              <a:t>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B0B"/>
                </a:solidFill>
                <a:latin typeface="Calibri"/>
              </a:rPr>
              <a:t>Digital inclusion / African &amp; youth voices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4233672"/>
            <a:ext cx="2885606" cy="2926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2046" y="4160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2514E"/>
                </a:solidFill>
                <a:latin typeface="Calibri"/>
              </a:rPr>
              <a:t>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B0B"/>
                </a:solidFill>
                <a:latin typeface="Calibri"/>
              </a:rPr>
              <a:t>Accountability in automated decision-making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5010912"/>
            <a:ext cx="2473377" cy="2926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817" y="49377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2514E"/>
                </a:solidFill>
                <a:latin typeface="Calibri"/>
              </a:rPr>
              <a:t>6.0%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898781"/>
                </a:solidFill>
                <a:latin typeface="Calibri"/>
              </a:rPr>
              <a:t>No single theme dominates — a genuinely heterogeneous set of voices, from grassroots petitioners to technical policy shops.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FINDINGS — THE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Did it echo back?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0B0B0B"/>
                </a:solidFill>
                <a:latin typeface="Calibri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1284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B0B"/>
                </a:solidFill>
                <a:latin typeface="Calibri"/>
              </a:rPr>
              <a:t>Got a real, dedicated place on the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12140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0CA30C"/>
                </a:solidFill>
                <a:latin typeface="Calibri"/>
              </a:rPr>
              <a:t>1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108813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5584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0B0B0B"/>
                </a:solidFill>
                <a:latin typeface="Calibri"/>
              </a:rPr>
              <a:t>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44728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B0B"/>
                </a:solidFill>
                <a:latin typeface="Calibri"/>
              </a:rPr>
              <a:t>Mentioned, but folded into a bigger, vaguer bucket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335584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B5790A"/>
                </a:solidFill>
                <a:latin typeface="Calibri"/>
              </a:rPr>
              <a:t>4 of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89120"/>
            <a:ext cx="108813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9028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0B0B0B"/>
                </a:solidFill>
                <a:latin typeface="Calibri"/>
              </a:rP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6817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B0B"/>
                </a:solidFill>
                <a:latin typeface="Calibri"/>
              </a:rPr>
              <a:t>Left off the agenda entirely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459028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D03B3B"/>
                </a:solidFill>
                <a:latin typeface="Calibri"/>
              </a:rPr>
              <a:t>1 of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98781"/>
                </a:solidFill>
                <a:latin typeface="Calibri"/>
              </a:rPr>
              <a:t>Covers the six themes checkable against the public agenda and closing statements. A full check of every theme found</a:t>
            </a:r>
          </a:p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98781"/>
                </a:solidFill>
                <a:latin typeface="Calibri"/>
              </a:rPr>
              <a:t>in Voice would need the actual session recordings — not yet reviewed.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FINDINGS — A CONCRETE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The clearest case: environmental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2064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98781"/>
                </a:solidFill>
                <a:latin typeface="Calibri"/>
              </a:rPr>
              <a:t>WHAT THEY WROTE, BEFORE THE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0B0B0B"/>
                </a:solidFill>
                <a:latin typeface="Calibri"/>
              </a:rPr>
              <a:t>“There is not even an option to select ecological impacts of AI.”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— Campaign for Nature, Nature Positive Initiative,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BirdLife International, Wildlife Conservation Society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440680" cy="3840480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03B3B"/>
                </a:solidFill>
                <a:latin typeface="Calibri"/>
              </a:rPr>
              <a:t>WHAT THE REAL AGENDA SHOWED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51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B0B"/>
                </a:solidFill>
                <a:latin typeface="Calibri"/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520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0B0B"/>
                </a:solidFill>
                <a:latin typeface="Calibri"/>
              </a:rPr>
              <a:t>No environmental or biodiversity track existed anywhere in the Dialogue's four official thematic clusters.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0B0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0B0B"/>
                </a:solidFill>
                <a:latin typeface="Calibri"/>
              </a:rPr>
              <a:t>They predicted their own exclusion — correctly.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HOW TO APPLY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Built to be reused by other organizations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The Voice phase is packaged as reusable code (R), tested to reproduce identical results on repeat runs.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Works on any corpus of written input — position papers, consultation responses, submitted comments — as a single spreadsheet file.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Step 1: prepare your documents as one row per submission in a spreadsheet.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Step 2: run the analysis — it flags other languages and duplicate/coordinated submissions automatically, then groups the text into recurring themes.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Step 3: read the real representative examples for each theme.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—  Step 4: manually compare your themes against the real agenda and outcome documents of the process you're auditing — this is the Echo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0B0B"/>
                </a:solidFill>
                <a:latin typeface="Calibri"/>
              </a:rPr>
              <a:t>What's proven, what's still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CA30C"/>
                </a:solidFill>
                <a:latin typeface="Calibri"/>
              </a:rPr>
              <a:t>Proven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Voice phase: fully reusable code, tested for exact reproducibility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Near-duplicate detection caught two real coordinated-submission clusters in the pilot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The six-theme Echo scorecard for Geneva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B5790A"/>
                </a:solidFill>
                <a:latin typeface="Calibri"/>
              </a:rPr>
              <a:t>Still manual /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Signal phase (participation tracking) not yet packaged as code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Echo phase mapping is done by hand, not automated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50">
                <a:solidFill>
                  <a:srgbClr val="0B0B0B"/>
                </a:solidFill>
                <a:latin typeface="Calibri"/>
              </a:rPr>
              <a:t>—  Full Echo Score across all themes needs session transcripts, not yet reviewed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98781"/>
                </a:solidFill>
                <a:latin typeface="Calibri"/>
              </a:rPr>
              <a:t>ECHO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20440"/>
            <a:ext cx="12191695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Echo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C3C2B7"/>
                </a:solidFill>
                <a:latin typeface="Calibri"/>
              </a:rPr>
              <a:t>The tool is only as valuable as who else uses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98781"/>
                </a:solidFill>
                <a:latin typeface="Calibri"/>
              </a:rPr>
              <a:t>protocol/ · R/ · examples/  —  available for any organization auditing multilateral participation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